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2" r:id="rId7"/>
    <p:sldId id="263" r:id="rId8"/>
    <p:sldId id="264"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248BCF7-5193-4BDA-BA8C-9A8BE3A094DD}" type="datetimeFigureOut">
              <a:rPr lang="bg-BG" smtClean="0"/>
              <a:t>28.4.2026 г.</a:t>
            </a:fld>
            <a:endParaRPr lang="bg-BG"/>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bg-BG"/>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BA9D3C42-22BF-43D3-976A-4FDE815556BA}" type="slidenum">
              <a:rPr lang="bg-BG" smtClean="0"/>
              <a:t>‹#›</a:t>
            </a:fld>
            <a:endParaRPr lang="bg-BG"/>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3809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28.4.2026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71097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8BCF7-5193-4BDA-BA8C-9A8BE3A094DD}" type="datetimeFigureOut">
              <a:rPr lang="bg-BG" smtClean="0"/>
              <a:t>28.4.2026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80880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48BCF7-5193-4BDA-BA8C-9A8BE3A094DD}" type="datetimeFigureOut">
              <a:rPr lang="bg-BG" smtClean="0"/>
              <a:t>28.4.2026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1349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48BCF7-5193-4BDA-BA8C-9A8BE3A094DD}" type="datetimeFigureOut">
              <a:rPr lang="bg-BG" smtClean="0"/>
              <a:t>28.4.2026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27000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48BCF7-5193-4BDA-BA8C-9A8BE3A094DD}" type="datetimeFigureOut">
              <a:rPr lang="bg-BG" smtClean="0"/>
              <a:t>28.4.2026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1266972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8BCF7-5193-4BDA-BA8C-9A8BE3A094DD}" type="datetimeFigureOut">
              <a:rPr lang="bg-BG" smtClean="0"/>
              <a:t>28.4.2026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4044457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8BCF7-5193-4BDA-BA8C-9A8BE3A094DD}" type="datetimeFigureOut">
              <a:rPr lang="bg-BG" smtClean="0"/>
              <a:t>28.4.2026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2239952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8BCF7-5193-4BDA-BA8C-9A8BE3A094DD}" type="datetimeFigureOut">
              <a:rPr lang="bg-BG" smtClean="0"/>
              <a:t>28.4.2026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127721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28.4.2026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590188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8BCF7-5193-4BDA-BA8C-9A8BE3A094DD}" type="datetimeFigureOut">
              <a:rPr lang="bg-BG" smtClean="0"/>
              <a:t>28.4.2026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BA9D3C42-22BF-43D3-976A-4FDE815556BA}" type="slidenum">
              <a:rPr lang="bg-BG" smtClean="0"/>
              <a:t>‹#›</a:t>
            </a:fld>
            <a:endParaRPr lang="bg-BG"/>
          </a:p>
        </p:txBody>
      </p:sp>
    </p:spTree>
    <p:extLst>
      <p:ext uri="{BB962C8B-B14F-4D97-AF65-F5344CB8AC3E}">
        <p14:creationId xmlns:p14="http://schemas.microsoft.com/office/powerpoint/2010/main" val="30238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A248BCF7-5193-4BDA-BA8C-9A8BE3A094DD}" type="datetimeFigureOut">
              <a:rPr lang="bg-BG" smtClean="0"/>
              <a:t>28.4.2026 г.</a:t>
            </a:fld>
            <a:endParaRPr lang="bg-BG"/>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bg-BG"/>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BA9D3C42-22BF-43D3-976A-4FDE815556BA}" type="slidenum">
              <a:rPr lang="bg-BG" smtClean="0"/>
              <a:t>‹#›</a:t>
            </a:fld>
            <a:endParaRPr lang="bg-BG"/>
          </a:p>
        </p:txBody>
      </p:sp>
    </p:spTree>
    <p:extLst>
      <p:ext uri="{BB962C8B-B14F-4D97-AF65-F5344CB8AC3E}">
        <p14:creationId xmlns:p14="http://schemas.microsoft.com/office/powerpoint/2010/main" val="877904693"/>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microsoft.com/office/2007/relationships/hdphoto" Target="../media/hdphoto5.wdp"/><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6.png"/><Relationship Id="rId5" Type="http://schemas.openxmlformats.org/officeDocument/2006/relationships/image" Target="../media/image3.png"/><Relationship Id="rId15" Type="http://schemas.microsoft.com/office/2007/relationships/hdphoto" Target="../media/hdphoto6.wdp"/><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 Id="rId1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819B4-FAEC-43C3-A453-08ABB17A29CC}"/>
              </a:ext>
            </a:extLst>
          </p:cNvPr>
          <p:cNvSpPr>
            <a:spLocks noGrp="1"/>
          </p:cNvSpPr>
          <p:nvPr>
            <p:ph type="ctrTitle"/>
          </p:nvPr>
        </p:nvSpPr>
        <p:spPr/>
        <p:txBody>
          <a:bodyPr>
            <a:normAutofit/>
          </a:bodyPr>
          <a:lstStyle/>
          <a:p>
            <a:r>
              <a:rPr lang="ru-RU" dirty="0" err="1"/>
              <a:t>CarpoolingApp</a:t>
            </a:r>
            <a:r>
              <a:rPr lang="ru-RU" dirty="0"/>
              <a:t> – </a:t>
            </a:r>
            <a:r>
              <a:rPr lang="en-150" dirty="0"/>
              <a:t>Web app for shared traveling</a:t>
            </a:r>
            <a:endParaRPr lang="bg-BG" dirty="0"/>
          </a:p>
        </p:txBody>
      </p:sp>
      <p:sp>
        <p:nvSpPr>
          <p:cNvPr id="3" name="Subtitle 2">
            <a:extLst>
              <a:ext uri="{FF2B5EF4-FFF2-40B4-BE49-F238E27FC236}">
                <a16:creationId xmlns:a16="http://schemas.microsoft.com/office/drawing/2014/main" id="{FC0E66A9-389B-43E4-AF98-74B55860B2CA}"/>
              </a:ext>
            </a:extLst>
          </p:cNvPr>
          <p:cNvSpPr>
            <a:spLocks noGrp="1"/>
          </p:cNvSpPr>
          <p:nvPr>
            <p:ph type="subTitle" idx="1"/>
          </p:nvPr>
        </p:nvSpPr>
        <p:spPr/>
        <p:txBody>
          <a:bodyPr/>
          <a:lstStyle/>
          <a:p>
            <a:r>
              <a:rPr lang="en-US" dirty="0"/>
              <a:t>Created by: </a:t>
            </a:r>
            <a:r>
              <a:rPr lang="en-US" b="1" dirty="0"/>
              <a:t>Georgi </a:t>
            </a:r>
            <a:r>
              <a:rPr lang="en-US" b="1" dirty="0" err="1"/>
              <a:t>Stoyanov</a:t>
            </a:r>
            <a:r>
              <a:rPr lang="en-US" b="1" dirty="0"/>
              <a:t> Dimitrov</a:t>
            </a:r>
            <a:endParaRPr lang="bg-BG" dirty="0"/>
          </a:p>
        </p:txBody>
      </p:sp>
    </p:spTree>
    <p:extLst>
      <p:ext uri="{BB962C8B-B14F-4D97-AF65-F5344CB8AC3E}">
        <p14:creationId xmlns:p14="http://schemas.microsoft.com/office/powerpoint/2010/main" val="277253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5E70E-7BBF-47FD-BEA9-3A432DFB5E16}"/>
              </a:ext>
            </a:extLst>
          </p:cNvPr>
          <p:cNvSpPr>
            <a:spLocks noGrp="1"/>
          </p:cNvSpPr>
          <p:nvPr>
            <p:ph type="title"/>
          </p:nvPr>
        </p:nvSpPr>
        <p:spPr/>
        <p:txBody>
          <a:bodyPr>
            <a:normAutofit/>
          </a:bodyPr>
          <a:lstStyle/>
          <a:p>
            <a:r>
              <a:rPr lang="en-150" sz="6600" dirty="0"/>
              <a:t>Idea</a:t>
            </a:r>
            <a:endParaRPr lang="bg-BG" sz="6600" dirty="0"/>
          </a:p>
        </p:txBody>
      </p:sp>
      <p:sp>
        <p:nvSpPr>
          <p:cNvPr id="3" name="Content Placeholder 2">
            <a:extLst>
              <a:ext uri="{FF2B5EF4-FFF2-40B4-BE49-F238E27FC236}">
                <a16:creationId xmlns:a16="http://schemas.microsoft.com/office/drawing/2014/main" id="{777B8C76-C1FB-4453-806D-826956F0CCE1}"/>
              </a:ext>
            </a:extLst>
          </p:cNvPr>
          <p:cNvSpPr>
            <a:spLocks noGrp="1"/>
          </p:cNvSpPr>
          <p:nvPr>
            <p:ph idx="1"/>
          </p:nvPr>
        </p:nvSpPr>
        <p:spPr/>
        <p:txBody>
          <a:bodyPr>
            <a:normAutofit/>
          </a:bodyPr>
          <a:lstStyle/>
          <a:p>
            <a:r>
              <a:rPr lang="en-US" sz="3200" dirty="0" err="1"/>
              <a:t>CarpoolingApp</a:t>
            </a:r>
            <a:r>
              <a:rPr lang="en-US" sz="3200" dirty="0"/>
              <a:t> is a simple ASP.NET Core MVC web application that allows users to create trips, search for trips, and book seats. The idea is to make shared travel easier for people going in the same direction.</a:t>
            </a:r>
            <a:endParaRPr lang="bg-BG" sz="3200" dirty="0"/>
          </a:p>
        </p:txBody>
      </p:sp>
    </p:spTree>
    <p:extLst>
      <p:ext uri="{BB962C8B-B14F-4D97-AF65-F5344CB8AC3E}">
        <p14:creationId xmlns:p14="http://schemas.microsoft.com/office/powerpoint/2010/main" val="206310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4ABEE-F3FB-47B3-B5F8-4F68B9DCED11}"/>
              </a:ext>
            </a:extLst>
          </p:cNvPr>
          <p:cNvSpPr>
            <a:spLocks noGrp="1"/>
          </p:cNvSpPr>
          <p:nvPr>
            <p:ph type="title"/>
          </p:nvPr>
        </p:nvSpPr>
        <p:spPr/>
        <p:txBody>
          <a:bodyPr/>
          <a:lstStyle/>
          <a:p>
            <a:r>
              <a:rPr lang="en-150" dirty="0"/>
              <a:t>Project goals</a:t>
            </a:r>
            <a:endParaRPr lang="bg-BG" dirty="0"/>
          </a:p>
        </p:txBody>
      </p:sp>
      <p:sp>
        <p:nvSpPr>
          <p:cNvPr id="3" name="Content Placeholder 2">
            <a:extLst>
              <a:ext uri="{FF2B5EF4-FFF2-40B4-BE49-F238E27FC236}">
                <a16:creationId xmlns:a16="http://schemas.microsoft.com/office/drawing/2014/main" id="{813A7FAD-B9FA-4489-A58D-443CA0DF0966}"/>
              </a:ext>
            </a:extLst>
          </p:cNvPr>
          <p:cNvSpPr>
            <a:spLocks noGrp="1"/>
          </p:cNvSpPr>
          <p:nvPr>
            <p:ph idx="1"/>
          </p:nvPr>
        </p:nvSpPr>
        <p:spPr/>
        <p:txBody>
          <a:bodyPr/>
          <a:lstStyle/>
          <a:p>
            <a:r>
              <a:rPr lang="en-US" dirty="0"/>
              <a:t>Build a functional MVC web application</a:t>
            </a:r>
            <a:endParaRPr lang="en-150" dirty="0"/>
          </a:p>
          <a:p>
            <a:r>
              <a:rPr lang="en-US" dirty="0"/>
              <a:t>Use a real database with Entity Framework Core</a:t>
            </a:r>
            <a:endParaRPr lang="en-150" dirty="0"/>
          </a:p>
          <a:p>
            <a:r>
              <a:rPr lang="en-US" dirty="0"/>
              <a:t>Implement user registration and login with Identity</a:t>
            </a:r>
            <a:endParaRPr lang="en-150" dirty="0"/>
          </a:p>
          <a:p>
            <a:r>
              <a:rPr lang="en-US" dirty="0"/>
              <a:t>Allow drivers to publish trips</a:t>
            </a:r>
            <a:endParaRPr lang="en-150" dirty="0"/>
          </a:p>
          <a:p>
            <a:r>
              <a:rPr lang="en-US" dirty="0"/>
              <a:t>Allow passengers to search and book seats</a:t>
            </a:r>
            <a:endParaRPr lang="en-150" dirty="0"/>
          </a:p>
          <a:p>
            <a:r>
              <a:rPr lang="en-US" dirty="0"/>
              <a:t>Keep the interface simple and easy to use</a:t>
            </a:r>
            <a:endParaRPr lang="bg-BG" dirty="0"/>
          </a:p>
        </p:txBody>
      </p:sp>
    </p:spTree>
    <p:extLst>
      <p:ext uri="{BB962C8B-B14F-4D97-AF65-F5344CB8AC3E}">
        <p14:creationId xmlns:p14="http://schemas.microsoft.com/office/powerpoint/2010/main" val="4038181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7407-ED40-4D2E-B353-71D7AD2E0879}"/>
              </a:ext>
            </a:extLst>
          </p:cNvPr>
          <p:cNvSpPr>
            <a:spLocks noGrp="1"/>
          </p:cNvSpPr>
          <p:nvPr>
            <p:ph type="title"/>
          </p:nvPr>
        </p:nvSpPr>
        <p:spPr/>
        <p:txBody>
          <a:bodyPr/>
          <a:lstStyle/>
          <a:p>
            <a:r>
              <a:rPr lang="en-150" dirty="0"/>
              <a:t>Main features</a:t>
            </a:r>
            <a:endParaRPr lang="bg-BG" dirty="0"/>
          </a:p>
        </p:txBody>
      </p:sp>
      <p:sp>
        <p:nvSpPr>
          <p:cNvPr id="3" name="Content Placeholder 2">
            <a:extLst>
              <a:ext uri="{FF2B5EF4-FFF2-40B4-BE49-F238E27FC236}">
                <a16:creationId xmlns:a16="http://schemas.microsoft.com/office/drawing/2014/main" id="{2E8E5306-617F-445C-989E-C28AC83EECEC}"/>
              </a:ext>
            </a:extLst>
          </p:cNvPr>
          <p:cNvSpPr>
            <a:spLocks noGrp="1"/>
          </p:cNvSpPr>
          <p:nvPr>
            <p:ph idx="1"/>
          </p:nvPr>
        </p:nvSpPr>
        <p:spPr/>
        <p:txBody>
          <a:bodyPr/>
          <a:lstStyle/>
          <a:p>
            <a:r>
              <a:rPr lang="en-US" dirty="0"/>
              <a:t>User registration and login</a:t>
            </a:r>
            <a:endParaRPr lang="en-150" dirty="0"/>
          </a:p>
          <a:p>
            <a:r>
              <a:rPr lang="en-US" dirty="0"/>
              <a:t>Create a trip (driver)</a:t>
            </a:r>
            <a:endParaRPr lang="en-150" dirty="0"/>
          </a:p>
          <a:p>
            <a:r>
              <a:rPr lang="en-US" dirty="0"/>
              <a:t>Search trips by date or destination</a:t>
            </a:r>
            <a:endParaRPr lang="en-150" dirty="0"/>
          </a:p>
          <a:p>
            <a:r>
              <a:rPr lang="en-US" dirty="0"/>
              <a:t>View trip details</a:t>
            </a:r>
            <a:endParaRPr lang="en-150" dirty="0"/>
          </a:p>
          <a:p>
            <a:r>
              <a:rPr lang="en-US" dirty="0"/>
              <a:t>Book seats</a:t>
            </a:r>
            <a:endParaRPr lang="en-150" dirty="0"/>
          </a:p>
          <a:p>
            <a:r>
              <a:rPr lang="en-US" dirty="0"/>
              <a:t>Automatic calculation of remaining seats</a:t>
            </a:r>
            <a:endParaRPr lang="bg-BG" dirty="0"/>
          </a:p>
        </p:txBody>
      </p:sp>
    </p:spTree>
    <p:extLst>
      <p:ext uri="{BB962C8B-B14F-4D97-AF65-F5344CB8AC3E}">
        <p14:creationId xmlns:p14="http://schemas.microsoft.com/office/powerpoint/2010/main" val="53279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671F-A073-4C70-BF3D-E56EB197AFDE}"/>
              </a:ext>
            </a:extLst>
          </p:cNvPr>
          <p:cNvSpPr>
            <a:spLocks noGrp="1"/>
          </p:cNvSpPr>
          <p:nvPr>
            <p:ph type="title"/>
          </p:nvPr>
        </p:nvSpPr>
        <p:spPr>
          <a:xfrm>
            <a:off x="308951" y="-262227"/>
            <a:ext cx="9692640" cy="1428929"/>
          </a:xfrm>
        </p:spPr>
        <p:txBody>
          <a:bodyPr/>
          <a:lstStyle/>
          <a:p>
            <a:r>
              <a:rPr lang="en-150" dirty="0">
                <a:solidFill>
                  <a:schemeClr val="tx1"/>
                </a:solidFill>
              </a:rPr>
              <a:t>Used technologies</a:t>
            </a:r>
            <a:endParaRPr lang="bg-BG" dirty="0">
              <a:solidFill>
                <a:schemeClr val="tx1"/>
              </a:solidFill>
            </a:endParaRPr>
          </a:p>
        </p:txBody>
      </p:sp>
      <p:pic>
        <p:nvPicPr>
          <p:cNvPr id="4" name="Picture 3" descr="Microsoft Teams - Wikipedia">
            <a:extLst>
              <a:ext uri="{FF2B5EF4-FFF2-40B4-BE49-F238E27FC236}">
                <a16:creationId xmlns:a16="http://schemas.microsoft.com/office/drawing/2014/main" id="{98C6F2E5-CE26-4F68-8E98-EEA0232D3BA0}"/>
              </a:ext>
            </a:extLst>
          </p:cNvPr>
          <p:cNvPicPr/>
          <p:nvPr/>
        </p:nvPicPr>
        <p:blipFill>
          <a:blip r:embed="rId2"/>
          <a:stretch/>
        </p:blipFill>
        <p:spPr>
          <a:xfrm>
            <a:off x="778243" y="1464975"/>
            <a:ext cx="1996200" cy="1856160"/>
          </a:xfrm>
          <a:prstGeom prst="rect">
            <a:avLst/>
          </a:prstGeom>
          <a:ln w="0">
            <a:noFill/>
          </a:ln>
        </p:spPr>
      </p:pic>
      <p:pic>
        <p:nvPicPr>
          <p:cNvPr id="5" name="Picture 4" descr="Microsoft Word: Edit Documents – Приложения в Google Play">
            <a:extLst>
              <a:ext uri="{FF2B5EF4-FFF2-40B4-BE49-F238E27FC236}">
                <a16:creationId xmlns:a16="http://schemas.microsoft.com/office/drawing/2014/main" id="{0901AD14-47B7-437B-8717-990073398838}"/>
              </a:ext>
            </a:extLst>
          </p:cNvPr>
          <p:cNvPicPr/>
          <p:nvPr/>
        </p:nvPicPr>
        <p:blipFill>
          <a:blip r:embed="rId3">
            <a:extLst>
              <a:ext uri="{BEBA8EAE-BF5A-486C-A8C5-ECC9F3942E4B}">
                <a14:imgProps xmlns:a14="http://schemas.microsoft.com/office/drawing/2010/main">
                  <a14:imgLayer r:embed="rId4">
                    <a14:imgEffect>
                      <a14:backgroundRemoval t="10000" b="90000" l="10000" r="90000">
                        <a14:foregroundMark x1="32031" y1="50000" x2="37500" y2="52539"/>
                        <a14:foregroundMark x1="37500" y1="47461" x2="40820" y2="43750"/>
                        <a14:foregroundMark x1="27734" y1="44531" x2="36328" y2="53711"/>
                        <a14:foregroundMark x1="27734" y1="43359" x2="37109" y2="62695"/>
                        <a14:foregroundMark x1="26563" y1="46680" x2="16406" y2="41211"/>
                        <a14:foregroundMark x1="17773" y1="41602" x2="23242" y2="59180"/>
                        <a14:foregroundMark x1="26563" y1="50000" x2="22266" y2="63477"/>
                      </a14:backgroundRemoval>
                    </a14:imgEffect>
                  </a14:imgLayer>
                </a14:imgProps>
              </a:ext>
            </a:extLst>
          </a:blip>
          <a:stretch/>
        </p:blipFill>
        <p:spPr>
          <a:xfrm>
            <a:off x="3241338" y="1326735"/>
            <a:ext cx="2132640" cy="2132640"/>
          </a:xfrm>
          <a:prstGeom prst="rect">
            <a:avLst/>
          </a:prstGeom>
          <a:ln w="0">
            <a:noFill/>
          </a:ln>
        </p:spPr>
      </p:pic>
      <p:pic>
        <p:nvPicPr>
          <p:cNvPr id="6" name="Picture 5" descr="Microsoft PowerPoint - Apps on Google Play">
            <a:extLst>
              <a:ext uri="{FF2B5EF4-FFF2-40B4-BE49-F238E27FC236}">
                <a16:creationId xmlns:a16="http://schemas.microsoft.com/office/drawing/2014/main" id="{17D47846-AE83-4E48-80A4-585068B5F210}"/>
              </a:ext>
            </a:extLst>
          </p:cNvPr>
          <p:cNvPicPr/>
          <p:nvPr/>
        </p:nvPicPr>
        <p:blipFill>
          <a:blip r:embed="rId5">
            <a:extLst>
              <a:ext uri="{BEBA8EAE-BF5A-486C-A8C5-ECC9F3942E4B}">
                <a14:imgProps xmlns:a14="http://schemas.microsoft.com/office/drawing/2010/main">
                  <a14:imgLayer r:embed="rId6">
                    <a14:imgEffect>
                      <a14:backgroundRemoval t="10000" b="90000" l="10000" r="90000">
                        <a14:foregroundMark x1="66211" y1="46094" x2="37109" y2="35156"/>
                        <a14:foregroundMark x1="37109" y1="35156" x2="33984" y2="67578"/>
                        <a14:foregroundMark x1="33984" y1="67578" x2="35352" y2="68750"/>
                        <a14:foregroundMark x1="35352" y1="47266" x2="29297" y2="62500"/>
                        <a14:foregroundMark x1="30859" y1="41992" x2="25781" y2="60938"/>
                        <a14:foregroundMark x1="31836" y1="45117" x2="29297" y2="52344"/>
                        <a14:foregroundMark x1="29883" y1="43555" x2="34961" y2="45703"/>
                        <a14:foregroundMark x1="27148" y1="44727" x2="31836" y2="46680"/>
                        <a14:foregroundMark x1="25781" y1="40039" x2="27148" y2="56445"/>
                      </a14:backgroundRemoval>
                    </a14:imgEffect>
                  </a14:imgLayer>
                </a14:imgProps>
              </a:ext>
            </a:extLst>
          </a:blip>
          <a:stretch/>
        </p:blipFill>
        <p:spPr>
          <a:xfrm>
            <a:off x="5607449" y="1329700"/>
            <a:ext cx="2421150" cy="2230065"/>
          </a:xfrm>
          <a:prstGeom prst="rect">
            <a:avLst/>
          </a:prstGeom>
          <a:ln w="0">
            <a:noFill/>
          </a:ln>
        </p:spPr>
      </p:pic>
      <p:pic>
        <p:nvPicPr>
          <p:cNvPr id="3074" name="Picture 2" descr="Visual Studio - Wikipedia">
            <a:extLst>
              <a:ext uri="{FF2B5EF4-FFF2-40B4-BE49-F238E27FC236}">
                <a16:creationId xmlns:a16="http://schemas.microsoft.com/office/drawing/2014/main" id="{067C0A68-B8B7-407B-995A-5038AEE23A87}"/>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8889" b="92000" l="0" r="96889">
                        <a14:foregroundMark x1="88444" y1="27111" x2="90667" y2="80444"/>
                        <a14:foregroundMark x1="90667" y1="80444" x2="90667" y2="80444"/>
                        <a14:foregroundMark x1="96889" y1="25778" x2="97333" y2="72444"/>
                        <a14:foregroundMark x1="65333" y1="91111" x2="67556" y2="92000"/>
                        <a14:foregroundMark x1="63111" y1="8889" x2="72000" y2="11111"/>
                        <a14:foregroundMark x1="22667" y1="25333" x2="10667" y2="46222"/>
                        <a14:foregroundMark x1="10667" y1="46222" x2="8444" y2="56000"/>
                        <a14:foregroundMark x1="9333" y1="36889" x2="7111" y2="64889"/>
                        <a14:foregroundMark x1="7111" y1="64889" x2="11556" y2="75111"/>
                        <a14:foregroundMark x1="3556" y1="39556" x2="5778" y2="63556"/>
                        <a14:foregroundMark x1="5778" y1="63556" x2="6222" y2="63556"/>
                        <a14:foregroundMark x1="0" y1="35556" x2="4444" y2="68000"/>
                      </a14:backgroundRemoval>
                    </a14:imgEffect>
                  </a14:imgLayer>
                </a14:imgProps>
              </a:ext>
              <a:ext uri="{28A0092B-C50C-407E-A947-70E740481C1C}">
                <a14:useLocalDpi xmlns:a14="http://schemas.microsoft.com/office/drawing/2010/main" val="0"/>
              </a:ext>
            </a:extLst>
          </a:blip>
          <a:srcRect/>
          <a:stretch>
            <a:fillRect/>
          </a:stretch>
        </p:blipFill>
        <p:spPr bwMode="auto">
          <a:xfrm>
            <a:off x="8621077" y="3830079"/>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dvantages of C# | CodeGuru.com">
            <a:extLst>
              <a:ext uri="{FF2B5EF4-FFF2-40B4-BE49-F238E27FC236}">
                <a16:creationId xmlns:a16="http://schemas.microsoft.com/office/drawing/2014/main" id="{3E487791-12D4-44E1-8847-560540642EC5}"/>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9524" b="92857" l="10000" r="90000">
                        <a14:foregroundMark x1="61333" y1="26190" x2="36333" y2="32738"/>
                        <a14:foregroundMark x1="36333" y1="32738" x2="35667" y2="74405"/>
                        <a14:foregroundMark x1="35667" y1="74405" x2="65000" y2="60119"/>
                        <a14:foregroundMark x1="65000" y1="60119" x2="59333" y2="23214"/>
                        <a14:foregroundMark x1="59333" y1="23214" x2="58000" y2="20833"/>
                        <a14:foregroundMark x1="63000" y1="56548" x2="59667" y2="48214"/>
                        <a14:foregroundMark x1="51667" y1="91667" x2="66000" y2="70238"/>
                        <a14:foregroundMark x1="66000" y1="70238" x2="70000" y2="37500"/>
                        <a14:foregroundMark x1="70000" y1="37500" x2="55667" y2="17262"/>
                        <a14:foregroundMark x1="55667" y1="17262" x2="38667" y2="25000"/>
                        <a14:foregroundMark x1="38667" y1="25000" x2="30667" y2="55357"/>
                        <a14:foregroundMark x1="30667" y1="55357" x2="42000" y2="85119"/>
                        <a14:foregroundMark x1="42000" y1="85119" x2="50667" y2="92857"/>
                        <a14:foregroundMark x1="42667" y1="45833" x2="45667" y2="56548"/>
                        <a14:foregroundMark x1="54333" y1="32143" x2="55000" y2="36905"/>
                        <a14:foregroundMark x1="42000" y1="30952" x2="44000" y2="72619"/>
                        <a14:foregroundMark x1="49667" y1="10714" x2="48333" y2="9524"/>
                        <a14:backgroundMark x1="19333" y1="19643" x2="14667" y2="66667"/>
                        <a14:backgroundMark x1="14667" y1="66667" x2="10667" y2="17262"/>
                        <a14:backgroundMark x1="10667" y1="17262" x2="10000" y2="85119"/>
                        <a14:backgroundMark x1="78333" y1="17857" x2="86667" y2="83333"/>
                        <a14:backgroundMark x1="86667" y1="83333" x2="85333" y2="83333"/>
                      </a14:backgroundRemoval>
                    </a14:imgEffect>
                  </a14:imgLayer>
                </a14:imgProps>
              </a:ext>
              <a:ext uri="{28A0092B-C50C-407E-A947-70E740481C1C}">
                <a14:useLocalDpi xmlns:a14="http://schemas.microsoft.com/office/drawing/2010/main" val="0"/>
              </a:ext>
            </a:extLst>
          </a:blip>
          <a:srcRect/>
          <a:stretch>
            <a:fillRect/>
          </a:stretch>
        </p:blipFill>
        <p:spPr bwMode="auto">
          <a:xfrm>
            <a:off x="2817046" y="4052472"/>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Visual Studio Code Web - Desktop App for Mac, Windows (PC) - WebCatalog">
            <a:extLst>
              <a:ext uri="{FF2B5EF4-FFF2-40B4-BE49-F238E27FC236}">
                <a16:creationId xmlns:a16="http://schemas.microsoft.com/office/drawing/2014/main" id="{70275C2B-F7B4-4634-8BA2-D91B7250676A}"/>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881718" y="3651564"/>
            <a:ext cx="5380733" cy="282922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sp.net Mvc Core - Mvcct Team">
            <a:extLst>
              <a:ext uri="{FF2B5EF4-FFF2-40B4-BE49-F238E27FC236}">
                <a16:creationId xmlns:a16="http://schemas.microsoft.com/office/drawing/2014/main" id="{49097154-09F4-4EA6-AE28-B3B05E1E463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0907" y="4207579"/>
            <a:ext cx="1880937" cy="1428929"/>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descr="What is SQL Database: Structure, Types, Examples">
            <a:extLst>
              <a:ext uri="{FF2B5EF4-FFF2-40B4-BE49-F238E27FC236}">
                <a16:creationId xmlns:a16="http://schemas.microsoft.com/office/drawing/2014/main" id="{A7E1FE6B-CB41-40F6-8EE4-B1DDDCA276FA}"/>
              </a:ext>
            </a:extLst>
          </p:cNvPr>
          <p:cNvSpPr>
            <a:spLocks noChangeAspect="1" noChangeArrowheads="1"/>
          </p:cNvSpPr>
          <p:nvPr/>
        </p:nvSpPr>
        <p:spPr bwMode="auto">
          <a:xfrm>
            <a:off x="5943600" y="3276600"/>
            <a:ext cx="1987554" cy="19875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bg-BG"/>
          </a:p>
        </p:txBody>
      </p:sp>
      <p:pic>
        <p:nvPicPr>
          <p:cNvPr id="1032" name="Picture 8" descr="SQL Database Manager DB-Client - Apps on Google Play">
            <a:extLst>
              <a:ext uri="{FF2B5EF4-FFF2-40B4-BE49-F238E27FC236}">
                <a16:creationId xmlns:a16="http://schemas.microsoft.com/office/drawing/2014/main" id="{A8CE3E3F-4DCC-4363-8087-52195A58EDF1}"/>
              </a:ext>
            </a:extLst>
          </p:cNvPr>
          <p:cNvPicPr>
            <a:picLocks noChangeAspect="1" noChangeArrowheads="1"/>
          </p:cNvPicPr>
          <p:nvPr/>
        </p:nvPicPr>
        <p:blipFill>
          <a:blip r:embed="rId14">
            <a:extLst>
              <a:ext uri="{BEBA8EAE-BF5A-486C-A8C5-ECC9F3942E4B}">
                <a14:imgProps xmlns:a14="http://schemas.microsoft.com/office/drawing/2010/main">
                  <a14:imgLayer r:embed="rId1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178855" y="1388885"/>
            <a:ext cx="4634133" cy="231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273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0F9D-8DE4-4A7B-B027-089CCFE35091}"/>
              </a:ext>
            </a:extLst>
          </p:cNvPr>
          <p:cNvSpPr>
            <a:spLocks noGrp="1"/>
          </p:cNvSpPr>
          <p:nvPr>
            <p:ph type="title"/>
          </p:nvPr>
        </p:nvSpPr>
        <p:spPr/>
        <p:txBody>
          <a:bodyPr/>
          <a:lstStyle/>
          <a:p>
            <a:r>
              <a:rPr lang="en-150" dirty="0"/>
              <a:t>Architecture</a:t>
            </a:r>
            <a:endParaRPr lang="bg-BG" dirty="0"/>
          </a:p>
        </p:txBody>
      </p:sp>
      <p:sp>
        <p:nvSpPr>
          <p:cNvPr id="3" name="Content Placeholder 2">
            <a:extLst>
              <a:ext uri="{FF2B5EF4-FFF2-40B4-BE49-F238E27FC236}">
                <a16:creationId xmlns:a16="http://schemas.microsoft.com/office/drawing/2014/main" id="{6F7C2ED1-1F75-4420-B77A-AFE0B0A04A73}"/>
              </a:ext>
            </a:extLst>
          </p:cNvPr>
          <p:cNvSpPr>
            <a:spLocks noGrp="1"/>
          </p:cNvSpPr>
          <p:nvPr>
            <p:ph idx="1"/>
          </p:nvPr>
        </p:nvSpPr>
        <p:spPr/>
        <p:txBody>
          <a:bodyPr/>
          <a:lstStyle/>
          <a:p>
            <a:r>
              <a:rPr lang="en-150" b="1" dirty="0"/>
              <a:t>Models</a:t>
            </a:r>
            <a:r>
              <a:rPr lang="en-150" dirty="0"/>
              <a:t>: Trip, Booking, </a:t>
            </a:r>
            <a:r>
              <a:rPr lang="en-150" dirty="0" err="1"/>
              <a:t>ApplicationUser</a:t>
            </a:r>
            <a:endParaRPr lang="en-150" dirty="0"/>
          </a:p>
          <a:p>
            <a:r>
              <a:rPr lang="en-150" b="1" dirty="0"/>
              <a:t>Controllers</a:t>
            </a:r>
            <a:r>
              <a:rPr lang="en-150" dirty="0"/>
              <a:t>: </a:t>
            </a:r>
            <a:r>
              <a:rPr lang="en-150" dirty="0" err="1"/>
              <a:t>TripController</a:t>
            </a:r>
            <a:r>
              <a:rPr lang="en-150" dirty="0"/>
              <a:t>, </a:t>
            </a:r>
            <a:r>
              <a:rPr lang="en-150" dirty="0" err="1"/>
              <a:t>BookingController</a:t>
            </a:r>
            <a:r>
              <a:rPr lang="en-150" dirty="0"/>
              <a:t>, </a:t>
            </a:r>
            <a:r>
              <a:rPr lang="en-150" dirty="0" err="1"/>
              <a:t>AccountController</a:t>
            </a:r>
            <a:endParaRPr lang="en-150" dirty="0"/>
          </a:p>
          <a:p>
            <a:r>
              <a:rPr lang="en-150" b="1" dirty="0"/>
              <a:t>Views</a:t>
            </a:r>
            <a:r>
              <a:rPr lang="en-150" dirty="0"/>
              <a:t>: Razor pages for each feature</a:t>
            </a:r>
          </a:p>
          <a:p>
            <a:r>
              <a:rPr lang="en-150" b="1" dirty="0"/>
              <a:t>Database</a:t>
            </a:r>
            <a:r>
              <a:rPr lang="en-150" dirty="0"/>
              <a:t>: EF Core Code‑First with migrations</a:t>
            </a:r>
          </a:p>
          <a:p>
            <a:r>
              <a:rPr lang="en-150" b="1" dirty="0"/>
              <a:t>Identity</a:t>
            </a:r>
            <a:r>
              <a:rPr lang="en-150" dirty="0"/>
              <a:t>: User accounts and roles</a:t>
            </a:r>
            <a:endParaRPr lang="bg-BG" dirty="0"/>
          </a:p>
        </p:txBody>
      </p:sp>
    </p:spTree>
    <p:extLst>
      <p:ext uri="{BB962C8B-B14F-4D97-AF65-F5344CB8AC3E}">
        <p14:creationId xmlns:p14="http://schemas.microsoft.com/office/powerpoint/2010/main" val="2557704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1BCF-BA48-4FE3-8151-B2EA0B0FEB98}"/>
              </a:ext>
            </a:extLst>
          </p:cNvPr>
          <p:cNvSpPr>
            <a:spLocks noGrp="1"/>
          </p:cNvSpPr>
          <p:nvPr>
            <p:ph type="title"/>
          </p:nvPr>
        </p:nvSpPr>
        <p:spPr/>
        <p:txBody>
          <a:bodyPr/>
          <a:lstStyle/>
          <a:p>
            <a:r>
              <a:rPr lang="en-150" dirty="0"/>
              <a:t>How It Works</a:t>
            </a:r>
            <a:endParaRPr lang="bg-BG" dirty="0"/>
          </a:p>
        </p:txBody>
      </p:sp>
      <p:sp>
        <p:nvSpPr>
          <p:cNvPr id="3" name="Content Placeholder 2">
            <a:extLst>
              <a:ext uri="{FF2B5EF4-FFF2-40B4-BE49-F238E27FC236}">
                <a16:creationId xmlns:a16="http://schemas.microsoft.com/office/drawing/2014/main" id="{98E758AC-06D6-4C84-9CF2-21A66E2082BA}"/>
              </a:ext>
            </a:extLst>
          </p:cNvPr>
          <p:cNvSpPr>
            <a:spLocks noGrp="1"/>
          </p:cNvSpPr>
          <p:nvPr>
            <p:ph idx="1"/>
          </p:nvPr>
        </p:nvSpPr>
        <p:spPr/>
        <p:txBody>
          <a:bodyPr/>
          <a:lstStyle/>
          <a:p>
            <a:r>
              <a:rPr lang="en-150" dirty="0"/>
              <a:t>User logs in</a:t>
            </a:r>
          </a:p>
          <a:p>
            <a:r>
              <a:rPr lang="en-150" dirty="0"/>
              <a:t>User sees available trips</a:t>
            </a:r>
          </a:p>
          <a:p>
            <a:r>
              <a:rPr lang="en-150" dirty="0"/>
              <a:t>User searches by date or destination</a:t>
            </a:r>
          </a:p>
          <a:p>
            <a:r>
              <a:rPr lang="en-150" dirty="0"/>
              <a:t>User opens trip details</a:t>
            </a:r>
          </a:p>
          <a:p>
            <a:r>
              <a:rPr lang="en-150" dirty="0"/>
              <a:t>User books seats</a:t>
            </a:r>
          </a:p>
          <a:p>
            <a:r>
              <a:rPr lang="en-150" dirty="0"/>
              <a:t>Driver sees bookings</a:t>
            </a:r>
            <a:endParaRPr lang="bg-BG" dirty="0"/>
          </a:p>
        </p:txBody>
      </p:sp>
    </p:spTree>
    <p:extLst>
      <p:ext uri="{BB962C8B-B14F-4D97-AF65-F5344CB8AC3E}">
        <p14:creationId xmlns:p14="http://schemas.microsoft.com/office/powerpoint/2010/main" val="1102151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BF7E-2644-449D-B4E1-9A54C5EA1042}"/>
              </a:ext>
            </a:extLst>
          </p:cNvPr>
          <p:cNvSpPr>
            <a:spLocks noGrp="1"/>
          </p:cNvSpPr>
          <p:nvPr>
            <p:ph type="title"/>
          </p:nvPr>
        </p:nvSpPr>
        <p:spPr/>
        <p:txBody>
          <a:bodyPr/>
          <a:lstStyle/>
          <a:p>
            <a:r>
              <a:rPr lang="en-150" dirty="0"/>
              <a:t>Trip Creation</a:t>
            </a:r>
            <a:endParaRPr lang="bg-BG" dirty="0"/>
          </a:p>
        </p:txBody>
      </p:sp>
      <p:sp>
        <p:nvSpPr>
          <p:cNvPr id="3" name="Content Placeholder 2">
            <a:extLst>
              <a:ext uri="{FF2B5EF4-FFF2-40B4-BE49-F238E27FC236}">
                <a16:creationId xmlns:a16="http://schemas.microsoft.com/office/drawing/2014/main" id="{76C96C69-BC14-437C-80F1-CF7905CAB915}"/>
              </a:ext>
            </a:extLst>
          </p:cNvPr>
          <p:cNvSpPr>
            <a:spLocks noGrp="1"/>
          </p:cNvSpPr>
          <p:nvPr>
            <p:ph idx="1"/>
          </p:nvPr>
        </p:nvSpPr>
        <p:spPr/>
        <p:txBody>
          <a:bodyPr/>
          <a:lstStyle/>
          <a:p>
            <a:r>
              <a:rPr lang="en-US" dirty="0"/>
              <a:t>A trip contains:</a:t>
            </a:r>
            <a:endParaRPr lang="en-150" dirty="0"/>
          </a:p>
          <a:p>
            <a:r>
              <a:rPr lang="en-US" dirty="0"/>
              <a:t>Start location</a:t>
            </a:r>
            <a:endParaRPr lang="en-150" dirty="0"/>
          </a:p>
          <a:p>
            <a:r>
              <a:rPr lang="en-US" dirty="0"/>
              <a:t>End location</a:t>
            </a:r>
            <a:endParaRPr lang="en-150" dirty="0"/>
          </a:p>
          <a:p>
            <a:r>
              <a:rPr lang="en-US" dirty="0"/>
              <a:t>Date</a:t>
            </a:r>
            <a:endParaRPr lang="en-150" dirty="0"/>
          </a:p>
          <a:p>
            <a:r>
              <a:rPr lang="en-US" dirty="0"/>
              <a:t>Time</a:t>
            </a:r>
            <a:endParaRPr lang="en-150" dirty="0"/>
          </a:p>
          <a:p>
            <a:r>
              <a:rPr lang="en-US" dirty="0"/>
              <a:t>Available seats</a:t>
            </a:r>
            <a:endParaRPr lang="en-150" dirty="0"/>
          </a:p>
          <a:p>
            <a:r>
              <a:rPr lang="en-US" dirty="0"/>
              <a:t>Driver (logged-in user)</a:t>
            </a:r>
            <a:endParaRPr lang="bg-BG" dirty="0"/>
          </a:p>
        </p:txBody>
      </p:sp>
    </p:spTree>
    <p:extLst>
      <p:ext uri="{BB962C8B-B14F-4D97-AF65-F5344CB8AC3E}">
        <p14:creationId xmlns:p14="http://schemas.microsoft.com/office/powerpoint/2010/main" val="772274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Right 3">
            <a:extLst>
              <a:ext uri="{FF2B5EF4-FFF2-40B4-BE49-F238E27FC236}">
                <a16:creationId xmlns:a16="http://schemas.microsoft.com/office/drawing/2014/main" id="{D75D8FF9-E3C2-4B41-855F-9869F34DE387}"/>
              </a:ext>
            </a:extLst>
          </p:cNvPr>
          <p:cNvSpPr/>
          <p:nvPr/>
        </p:nvSpPr>
        <p:spPr>
          <a:xfrm>
            <a:off x="592931" y="4007223"/>
            <a:ext cx="10091739" cy="2286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bg-BG"/>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g-BG"/>
          </a:p>
        </p:txBody>
      </p:sp>
      <p:sp>
        <p:nvSpPr>
          <p:cNvPr id="5" name="Google Shape;3569;p31">
            <a:extLst>
              <a:ext uri="{FF2B5EF4-FFF2-40B4-BE49-F238E27FC236}">
                <a16:creationId xmlns:a16="http://schemas.microsoft.com/office/drawing/2014/main" id="{A332C801-996C-4C4D-8BC1-8184E6CFFCDB}"/>
              </a:ext>
            </a:extLst>
          </p:cNvPr>
          <p:cNvSpPr/>
          <p:nvPr/>
        </p:nvSpPr>
        <p:spPr>
          <a:xfrm rot="1800">
            <a:off x="396155" y="2100224"/>
            <a:ext cx="10090845" cy="1707292"/>
          </a:xfrm>
          <a:prstGeom prst="rect">
            <a:avLst/>
          </a:prstGeom>
          <a:solidFill>
            <a:schemeClr val="bg1"/>
          </a:solidFill>
          <a:ln w="0">
            <a:noFill/>
          </a:ln>
          <a:effectLst>
            <a:glow rad="63360">
              <a:srgbClr val="FF7A1F">
                <a:alpha val="40000"/>
              </a:srgbClr>
            </a:glow>
            <a:outerShdw blurRad="57240" dist="19080" dir="5400000" algn="ctr" rotWithShape="0">
              <a:srgbClr val="000000">
                <a:alpha val="63000"/>
              </a:srgbClr>
            </a:outerShdw>
            <a:reflection blurRad="6350" stA="52000" endA="300" endPos="35000" dir="5400000" sy="-100000" algn="bl" rotWithShape="0"/>
          </a:effectLst>
        </p:spPr>
        <p:style>
          <a:lnRef idx="0">
            <a:schemeClr val="accent2"/>
          </a:lnRef>
          <a:fillRef idx="3">
            <a:schemeClr val="accent2"/>
          </a:fillRef>
          <a:effectRef idx="3">
            <a:schemeClr val="accent2"/>
          </a:effectRef>
          <a:fontRef idx="minor"/>
        </p:style>
        <p:txBody>
          <a:bodyPr lIns="90000" tIns="91440" rIns="90000" bIns="91440" anchor="t">
            <a:noAutofit/>
          </a:bodyPr>
          <a:ls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r>
              <a:rPr lang="en-150" sz="9600" spc="-1" dirty="0">
                <a:solidFill>
                  <a:srgbClr val="FF914D"/>
                </a:solidFill>
                <a:latin typeface="Agency FB"/>
              </a:rPr>
              <a:t>Let’s go to the application</a:t>
            </a:r>
            <a:endParaRPr lang="en-US" sz="9600" b="0" strike="noStrike" spc="-1" dirty="0">
              <a:solidFill>
                <a:srgbClr val="000000"/>
              </a:solidFill>
              <a:latin typeface="Arial"/>
            </a:endParaRPr>
          </a:p>
        </p:txBody>
      </p:sp>
    </p:spTree>
    <p:extLst>
      <p:ext uri="{BB962C8B-B14F-4D97-AF65-F5344CB8AC3E}">
        <p14:creationId xmlns:p14="http://schemas.microsoft.com/office/powerpoint/2010/main" val="747390560"/>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View</Template>
  <TotalTime>116</TotalTime>
  <Words>216</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Agency FB</vt:lpstr>
      <vt:lpstr>Arial</vt:lpstr>
      <vt:lpstr>Century Schoolbook</vt:lpstr>
      <vt:lpstr>Wingdings 2</vt:lpstr>
      <vt:lpstr>View</vt:lpstr>
      <vt:lpstr>CarpoolingApp – Web app for shared traveling</vt:lpstr>
      <vt:lpstr>Idea</vt:lpstr>
      <vt:lpstr>Project goals</vt:lpstr>
      <vt:lpstr>Main features</vt:lpstr>
      <vt:lpstr>Used technologies</vt:lpstr>
      <vt:lpstr>Architecture</vt:lpstr>
      <vt:lpstr>How It Works</vt:lpstr>
      <vt:lpstr>Trip Creation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CarpoolingApp – Web app for shared traveling</dc:title>
  <dc:creator>Георги Стоянов Димитров</dc:creator>
  <cp:lastModifiedBy>Георги Стоянов Димитров</cp:lastModifiedBy>
  <cp:revision>7</cp:revision>
  <dcterms:created xsi:type="dcterms:W3CDTF">2026-04-23T15:36:10Z</dcterms:created>
  <dcterms:modified xsi:type="dcterms:W3CDTF">2026-04-28T06:29:28Z</dcterms:modified>
</cp:coreProperties>
</file>